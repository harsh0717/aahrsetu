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98"/>
  </p:normalViewPr>
  <p:slideViewPr>
    <p:cSldViewPr snapToGrid="0" snapToObjects="1">
      <p:cViewPr>
        <p:scale>
          <a:sx n="95" d="100"/>
          <a:sy n="95" d="100"/>
        </p:scale>
        <p:origin x="680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291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96012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Arial"/>
              </a:defRPr>
            </a:pPr>
            <a:r>
              <a:t>ENTERPRISE INSTITUTIONAL PROCUREMENT SYSTEM</a:t>
            </a:r>
          </a:p>
          <a:p>
            <a:pPr>
              <a:spcBef>
                <a:spcPts val="600"/>
              </a:spcBef>
              <a:defRPr sz="4000" b="1">
                <a:solidFill>
                  <a:srgbClr val="FFFFFF"/>
                </a:solidFill>
                <a:latin typeface="Arial"/>
              </a:defRPr>
            </a:pPr>
            <a:r>
              <a:t>AharSetu (आहार-सेतु)</a:t>
            </a:r>
          </a:p>
          <a:p>
            <a:pPr>
              <a:spcBef>
                <a:spcPts val="800"/>
              </a:spcBef>
              <a:defRPr sz="1800">
                <a:solidFill>
                  <a:srgbClr val="CBD5E1"/>
                </a:solidFill>
                <a:latin typeface="Arial"/>
              </a:defRPr>
            </a:pPr>
            <a:r>
              <a:t>Smart Campus Canteen ERP &amp; Multi-Vendor Automated Procurement Platform</a:t>
            </a:r>
          </a:p>
          <a:p>
            <a:pPr>
              <a:spcBef>
                <a:spcPts val="14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Comprehensive Executive Overview for Board of Directors &amp; Institutional Leadership</a:t>
            </a:r>
            <a:br/>
            <a:r>
              <a:t>Featuring Real-Time Governance, Role-Based Access Control, Multi-Tier Approvals &amp; Immutable Audit Trails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3035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Presented by: Product &amp; Engineering Leadership  |  Confidential  |  v2.0 Production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AHARSETU ENTERPRISE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Problem: Inefficiencies in Institutional Canteen Procurement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AharSetu Enterprise ERP  |  Board Presentation  |  Slide 2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8006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DC2626"/>
                </a:solidFill>
                <a:latin typeface="Arial"/>
              </a:defRPr>
            </a:pPr>
            <a:r>
              <a:t>Manual Paper Slips &amp; Uncoordinated Vouchers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Departments manage food requests via physical slips or informal chats.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High rates of missing receipts, unrecorded quantities, and untracked expenses.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No centralized record for institutional event refreshments.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006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59E0B"/>
                </a:solidFill>
                <a:latin typeface="Arial"/>
              </a:defRPr>
            </a:pPr>
            <a:r>
              <a:t>Multi-Vendor Splitting Friction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A single event order requires items from 2-4 distinct campus canteens/vendors.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Coordinators spend hours placing separate manual orders with each shop.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Invoices arrive separately with no consolidated master billing reference.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977640"/>
            <a:ext cx="48006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7C3AED"/>
                </a:solidFill>
                <a:latin typeface="Arial"/>
              </a:defRPr>
            </a:pPr>
            <a:r>
              <a:t>Approval Delays &amp; Budget Leakage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Principals and finance heads lack unified visibility over departmental spending.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Multi-day delays waiting for physical sign-offs on urgent hospitality orders.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Zero pre-approval budget checks leading to post-event budget disputes.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9476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977640"/>
            <a:ext cx="48006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1E293B"/>
                </a:solidFill>
                <a:latin typeface="Arial"/>
              </a:defRPr>
            </a:pPr>
            <a:r>
              <a:t>Audit Compliance &amp; Settlement Bottlenecks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Finance departments struggle during monthly audit reconciliation.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Vendors wait 30-60 days for payment verification and settlement.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No immutable timestamped record of who authorized, delivered, and billed each item.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AHARSETU ENTERPRISE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Solution: AharSetu Unified ERP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AharSetu Enterprise ERP  |  Board Presentation  |  Slide 3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3017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2563EB"/>
                </a:solidFill>
                <a:latin typeface="Arial"/>
              </a:defRPr>
            </a:pPr>
            <a:r>
              <a:t>Automated Multi-Vendor Splitting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Single unified cart experience for coordinators.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Intelligent auto-splitting into sub-orders for each canteen vendor.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Master order tracks all vendor sub-orders under one reference.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6304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2" y="1645920"/>
            <a:ext cx="3017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10B981"/>
                </a:solidFill>
                <a:latin typeface="Arial"/>
              </a:defRPr>
            </a:pPr>
            <a:r>
              <a:t>Multi-Tier Governance &amp; RBAC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5 Institutional roles: Admin, Principal, Coordinator, Vendor, DCR.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Department-level isolation &amp; granular permission boundaries.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Instant digital review with remarks &amp; rejection transparency.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6304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38744" y="1645920"/>
            <a:ext cx="3017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7C3AED"/>
                </a:solidFill>
                <a:latin typeface="Arial"/>
              </a:defRPr>
            </a:pPr>
            <a:r>
              <a:t>Real-Time Synchronization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Sub-second WebSocket live updates + 10-second polling fallback.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Cross-device &amp; cross-tab synchronized status.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Automated vendor monthly reconciliation &amp; verified QR invoicing.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Enterprise Technical Architecture &amp; Reliability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AharSetu Enterprise ERP  |  Board Presentation  |  Slide 4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217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5760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2563EB"/>
                </a:solidFill>
                <a:latin typeface="Arial"/>
              </a:defRPr>
            </a:pPr>
            <a:r>
              <a:t>Frontend Layer (Next.js 16 + React 19 + Turbopack)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Zero-latency optimistic UI updates with localized multi-language i18n (EN, HI, GU).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PWA shell with Web Push notification service worker and mobile responsive design.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6217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154680"/>
            <a:ext cx="5760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10B981"/>
                </a:solidFill>
                <a:latin typeface="Arial"/>
              </a:defRPr>
            </a:pPr>
            <a:r>
              <a:t>Backend Services (FastAPI + Python 3.12 Asynchronous Core)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Stateless JWT authentication with rotating refresh tokens &amp; RBAC security decorators.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High-throughput REST API v1 endpoints with Pydantic v2 payload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6217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663440"/>
            <a:ext cx="5760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7C3AED"/>
                </a:solidFill>
                <a:latin typeface="Arial"/>
              </a:defRPr>
            </a:pPr>
            <a:r>
              <a:t>Database &amp; Persistence (PostgreSQL / SQLite + SQLAlchemy 2.0)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Relational data model with cascading integrity constraints &amp; connection pooling.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Immutable audit logs, real-time WebSocket event broadcaster, and automated seeders.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463040"/>
            <a:ext cx="4327855" cy="4480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0" y="3154680"/>
            <a:ext cx="3962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📸 Architecture &amp; Data Flow Diagram</a:t>
            </a:r>
          </a:p>
          <a:p>
            <a:pPr algn="ctr">
              <a:defRPr sz="950">
                <a:solidFill>
                  <a:srgbClr val="64748B"/>
                </a:solidFill>
                <a:latin typeface="Arial"/>
              </a:defRPr>
            </a:pPr>
            <a:r>
              <a:t>Insert Architecture / Tech Stack Diagram</a:t>
            </a:r>
          </a:p>
          <a:p>
            <a:pPr algn="ctr">
              <a:defRPr sz="850" i="1">
                <a:solidFill>
                  <a:srgbClr val="64748B"/>
                </a:solidFill>
                <a:latin typeface="Arial"/>
              </a:defRPr>
            </a:pPr>
            <a:r>
              <a:t>(Right Click → Change Picture / Paste Screenshot)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GOVERNANCE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Institutional Workflow &amp; Role-Based Access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AharSetu Enterprise ERP  |  Board Presentation  |  Slide 5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057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1. Coordinator</a:t>
            </a:r>
          </a:p>
          <a:p>
            <a:pPr>
              <a:spcBef>
                <a:spcPts val="10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Drafts requisitions, selects live menu items, submits to Principal.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463040"/>
            <a:ext cx="2057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44951" y="164592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Arial"/>
              </a:defRPr>
            </a:pPr>
            <a:r>
              <a:t>2. Principal</a:t>
            </a:r>
          </a:p>
          <a:p>
            <a:pPr>
              <a:spcBef>
                <a:spcPts val="10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Reviews departmental budget, approves or rejects with official remarks.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463040"/>
            <a:ext cx="2057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21224" y="164592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  <a:latin typeface="Arial"/>
              </a:defRPr>
            </a:pPr>
            <a:r>
              <a:t>3. DCR (Discretionary)</a:t>
            </a:r>
          </a:p>
          <a:p>
            <a:pPr>
              <a:spcBef>
                <a:spcPts val="10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Verifies institutional expense limits and forwards to canteen vendors.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1463040"/>
            <a:ext cx="2057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97496" y="164592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4. Canteen Vendor</a:t>
            </a:r>
          </a:p>
          <a:p>
            <a:pPr>
              <a:spcBef>
                <a:spcPts val="10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Confirms pricing, prepares items, requests modifications if out of stock.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6608" y="1463040"/>
            <a:ext cx="2057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73768" y="164592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5. Institutional Admin</a:t>
            </a:r>
          </a:p>
          <a:p>
            <a:pPr>
              <a:spcBef>
                <a:spcPts val="10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Finalizes order, generates verified tax sub-invoices &amp; audit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ROLE SPOTLIGHT: COORDINATOR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Coordinator Portal: Seamless Requisition Creation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AharSetu Enterprise ERP  |  Board Presentation  |  Slide 6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0292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2563EB"/>
                </a:solidFill>
                <a:latin typeface="Arial"/>
              </a:defRPr>
            </a:pPr>
            <a:r>
              <a:t>Key Operational Capabilities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Live Canteen Catalog: Real-time availability and prices across all campus vendors.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One-Click Multi-Vendor Cart: Select items from different shops simultaneously.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Automatic Order Reference: Instant generation of AS-2026-XXXX tracking codes.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Status Stepper: Visual tracking from Draft → Approval → Vendor → Completed.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Department Scoping: Coordinators only manage orders within their assigned department.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Offline Drafting: Create orders even in low-connectivity campus environments.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463040"/>
            <a:ext cx="5516575" cy="4480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3154680"/>
            <a:ext cx="515081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📸 Coordinator Dashboard &amp; Requisition View</a:t>
            </a:r>
          </a:p>
          <a:p>
            <a:pPr algn="ctr">
              <a:defRPr sz="950">
                <a:solidFill>
                  <a:srgbClr val="64748B"/>
                </a:solidFill>
                <a:latin typeface="Arial"/>
              </a:defRPr>
            </a:pPr>
            <a:r>
              <a:t>Insert Coordinator UI Screenshot (/coordinator)</a:t>
            </a:r>
          </a:p>
          <a:p>
            <a:pPr algn="ctr">
              <a:defRPr sz="850" i="1">
                <a:solidFill>
                  <a:srgbClr val="64748B"/>
                </a:solidFill>
                <a:latin typeface="Arial"/>
              </a:defRPr>
            </a:pPr>
            <a:r>
              <a:t>(Right Click → Change Picture / Paste Screenshot)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ROLE SPOTLIGHT: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Principal &amp; DCR Portals: Multi-Tier Approval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AharSetu Enterprise ERP  |  Board Presentation  |  Slide 7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0292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EA5E9"/>
                </a:solidFill>
                <a:latin typeface="Arial"/>
              </a:defRPr>
            </a:pPr>
            <a:r>
              <a:t>Executive Governance Controls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Multi-Department Oversight: Principals review all managed colleges/departments.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Two-Click Review: Approve with one touch or reject with mandatory audit remarks.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Direct Principal Requisition: Principals can raise emergency orders bypassing initial tier.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DCR Budget Clearance: Secondary institutional review for budget accountability.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Clarification Management: Accept/Reject vendor substitution requests in real time.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Mobile Approval Board: Optimized touch interface for principals on mobile devices.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463040"/>
            <a:ext cx="5516575" cy="4480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3154680"/>
            <a:ext cx="515081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📸 Principal Approval Dashboard &amp; Action Panel</a:t>
            </a:r>
          </a:p>
          <a:p>
            <a:pPr algn="ctr">
              <a:defRPr sz="950">
                <a:solidFill>
                  <a:srgbClr val="64748B"/>
                </a:solidFill>
                <a:latin typeface="Arial"/>
              </a:defRPr>
            </a:pPr>
            <a:r>
              <a:t>Insert Principal UI Screenshot (/principal)</a:t>
            </a:r>
          </a:p>
          <a:p>
            <a:pPr algn="ctr">
              <a:defRPr sz="850" i="1">
                <a:solidFill>
                  <a:srgbClr val="64748B"/>
                </a:solidFill>
                <a:latin typeface="Arial"/>
              </a:defRPr>
            </a:pPr>
            <a:r>
              <a:t>(Right Click → Change Picture / Paste Screenshot)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ROLE SPOTLIGHT: CANTEEN VENDOR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Vendor Portal: Kitchen Management &amp; Sub-Invoicing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AharSetu Enterprise ERP  |  Board Presentation  |  Slide 8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0292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59E0B"/>
                </a:solidFill>
                <a:latin typeface="Arial"/>
              </a:defRPr>
            </a:pPr>
            <a:r>
              <a:t>Vendor Kitchen Operations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Instant Kitchen Notifications: Live audio alerts and push messages upon new orders.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Real-Time Menu Toggle: Mark items 'Available' or 'Out of Stock' with immediate sync.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Clarification Workflow: Request substitutions (Minor/Major) with coordinator &amp; principal.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Automated Sub-Invoicing: Dedicated vendor sub-invoices generated per kitchen.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Monthly Settlement Tracking: Transparent ledger of paid vs outstanding college balances.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Kitchen Operating Status: Switch canteen between Open, Closed, and Unavailable.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463040"/>
            <a:ext cx="5516575" cy="4480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3154680"/>
            <a:ext cx="515081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📸 Vendor Kitchen Dashboard &amp; Settlement View</a:t>
            </a:r>
          </a:p>
          <a:p>
            <a:pPr algn="ctr">
              <a:defRPr sz="950">
                <a:solidFill>
                  <a:srgbClr val="64748B"/>
                </a:solidFill>
                <a:latin typeface="Arial"/>
              </a:defRPr>
            </a:pPr>
            <a:r>
              <a:t>Insert Vendor UI Screenshot (/vendor)</a:t>
            </a:r>
          </a:p>
          <a:p>
            <a:pPr algn="ctr">
              <a:defRPr sz="850" i="1">
                <a:solidFill>
                  <a:srgbClr val="64748B"/>
                </a:solidFill>
                <a:latin typeface="Arial"/>
              </a:defRPr>
            </a:pPr>
            <a:r>
              <a:t>(Right Click → Change Picture / Paste Screenshot)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ROLE SPOTLIGHT: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Admin Portal: Institutional Control, Users &amp; Audit 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AharSetu Enterprise ERP  |  Board Presentation  |  Slide 9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0292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10B981"/>
                </a:solidFill>
                <a:latin typeface="Arial"/>
              </a:defRPr>
            </a:pPr>
            <a:r>
              <a:t>Institutional Administration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Enterprise User Management: Add, edit, and safely delete coordinators, principals, vendors.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Immutable Audit Logs: Detailed trail tracking user ID, IP address, timestamp &amp; old/new payloads.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Department Management: Add new institutional wings, codes, and toggle active status.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Vendor Onboarding &amp; Settlements: Register canteens and track monthly bank clearances.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Emergency Controls: Bulk user deactivation protection with confirmation passphrases.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System Observability: Real-time PostgreSQL database pool and API latency health monitoring.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463040"/>
            <a:ext cx="5516575" cy="4480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3154680"/>
            <a:ext cx="515081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📸 Admin Dashboard &amp; User Manager Table</a:t>
            </a:r>
          </a:p>
          <a:p>
            <a:pPr algn="ctr">
              <a:defRPr sz="950">
                <a:solidFill>
                  <a:srgbClr val="64748B"/>
                </a:solidFill>
                <a:latin typeface="Arial"/>
              </a:defRPr>
            </a:pPr>
            <a:r>
              <a:t>Insert Admin UI Screenshot (/admin/users)</a:t>
            </a:r>
          </a:p>
          <a:p>
            <a:pPr algn="ctr">
              <a:defRPr sz="850" i="1">
                <a:solidFill>
                  <a:srgbClr val="64748B"/>
                </a:solidFill>
                <a:latin typeface="Arial"/>
              </a:defRPr>
            </a:pPr>
            <a:r>
              <a:t>(Right Click → Change Picture / Paste Screenshot)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TECHNICAL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Real-Time Sync Engine: 10s Polling + WebSockets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AharSetu Enterprise ERP  |  Board Presentation  |  Slide 10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10271455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2563EB"/>
                </a:solidFill>
                <a:latin typeface="Arial"/>
              </a:defRPr>
            </a:pPr>
            <a:r>
              <a:t>Layer 1: WebSocket Broadcaster (Sub-Second)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Native WebSocket gateway delivering immediate state broadcasts.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Dispatches USER_DELETED, ORDER_UPDATED, MENU_UPDATED across connected clients.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Subprotocol token authorization with automated heartbeat pings.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99232"/>
            <a:ext cx="10728655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182112"/>
            <a:ext cx="10271455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10B981"/>
                </a:solidFill>
                <a:latin typeface="Arial"/>
              </a:defRPr>
            </a:pPr>
            <a:r>
              <a:t>Layer 2: 10-Second Silent Polling (Fault-Tolerant)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Guaranteed background refresh every 10 seconds on all dashboards &amp; subpages.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Silent background execution with zero visual flicker or annoying loaders.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Maintains total cross-device sync across phones, laptops, and canteen tablets.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35424"/>
            <a:ext cx="10728655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718304"/>
            <a:ext cx="10271455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7C3AED"/>
                </a:solidFill>
                <a:latin typeface="Arial"/>
              </a:defRPr>
            </a:pPr>
            <a:r>
              <a:t>Layer 3: Cross-Tab &amp; Offline Local-First Fallback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Browser storage event dispatchers sync tabs in the same browser instantly.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Local tombstoning &amp; optimistic caching ensures offline continuity.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Graceful degradation when cloud/LAN network connection resets.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Security, Financial Audit &amp; Digital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AharSetu Enterprise ERP  |  Board Presentation  |  Slide 11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3017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2563EB"/>
                </a:solidFill>
                <a:latin typeface="Arial"/>
              </a:defRPr>
            </a:pPr>
            <a:r>
              <a:t>Cryptographic QR Invoicing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Every bill features a verified QR code.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Public verification endpoint `/verify/invoice/[id]` validates authenticity.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Prevents duplicate bill claims and unauthorized manual tampering.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6304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2" y="1645920"/>
            <a:ext cx="3017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10B981"/>
                </a:solidFill>
                <a:latin typeface="Arial"/>
              </a:defRPr>
            </a:pPr>
            <a:r>
              <a:t>Enterprise JWT &amp; Password Security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Passlib bcrypt password hashing.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Protected API route dependencies with role-based JWT bearer tokens.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Prevents privilege escalation and unauthorized departmental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6304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38744" y="1645920"/>
            <a:ext cx="3017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7C3AED"/>
                </a:solidFill>
                <a:latin typeface="Arial"/>
              </a:defRPr>
            </a:pPr>
            <a:r>
              <a:t>Immutable Audit Trail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Every status change, rejection remark, and profile edit is permanently logged.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Captures user identity, client IP, browser metadata, and before/after values.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Compliant with university and corporate financial auditing standards.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VALUE REALIZATION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Business Impact, Efficiency Gains &amp;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AharSetu Enterprise ERP  |  Board Presentation  |  Slide 12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85%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Faster Order Processing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Requisition turnaround reduced from hours to under 2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100%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Audit &amp; Billing Transparency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Zero missing vouchers; every penny linked to a verified invoice.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9776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7C3AED"/>
                </a:solidFill>
                <a:latin typeface="Arial"/>
              </a:defRPr>
            </a:pPr>
            <a:r>
              <a:t>30 Days → Instant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Vendor Settlement Visibility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Monthly vendor ledgers calculated automatically in real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9476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9E0B"/>
                </a:solidFill>
                <a:latin typeface="Arial"/>
              </a:defRPr>
            </a:pPr>
            <a:r>
              <a:t>0%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Paper Waste &amp; Slip Loss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Completely paperless institutional procurement pipeline.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Future Product Roadmap &amp; Enterprise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AharSetu Enterprise ERP  |  Board Presentation  |  Slide 13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3017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10B981"/>
                </a:solidFill>
                <a:latin typeface="Arial"/>
              </a:defRPr>
            </a:pPr>
            <a:r>
              <a:t>Phase 1: Current Release (v2.0 Production)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Multi-vendor splitting &amp; automated workflow.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10-second real-time cross-device sync.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QR invoice verification &amp; audit logging.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6304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2" y="1645920"/>
            <a:ext cx="3017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2563EB"/>
                </a:solidFill>
                <a:latin typeface="Arial"/>
              </a:defRPr>
            </a:pPr>
            <a:r>
              <a:t>Phase 2: ERP &amp; Financial Integrations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Direct connector with SAP, Tally Prime, and Oracle NetSuite.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Automated bank payout integration for vendors.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Native iOS / Android mobile apps with push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6304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38744" y="1645920"/>
            <a:ext cx="3017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7C3AED"/>
                </a:solidFill>
                <a:latin typeface="Arial"/>
              </a:defRPr>
            </a:pPr>
            <a:r>
              <a:t>Phase 3: AI &amp; Predictive Analytics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Predictive food demand forecasting to minimize kitchen wastage.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Automated budget threshold recommendations for departments.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• Smart RFID &amp; student meal plan wallet integration.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657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BOARD RECOMMENDATION &amp; CONCLUSION</a:t>
            </a:r>
          </a:p>
          <a:p>
            <a:pPr>
              <a:spcBef>
                <a:spcPts val="600"/>
              </a:spcBef>
              <a:defRPr sz="3200" b="1">
                <a:solidFill>
                  <a:srgbClr val="FFFFFF"/>
                </a:solidFill>
                <a:latin typeface="Arial"/>
              </a:defRPr>
            </a:pPr>
            <a:r>
              <a:t>Empowering Institutional Excellence with AharSetu</a:t>
            </a:r>
          </a:p>
          <a:p>
            <a:pPr>
              <a:spcBef>
                <a:spcPts val="1600"/>
              </a:spcBef>
              <a:defRPr sz="1300">
                <a:solidFill>
                  <a:srgbClr val="E2E8F0"/>
                </a:solidFill>
                <a:latin typeface="Arial"/>
              </a:defRPr>
            </a:pPr>
            <a:r>
              <a:t>• AharSetu bridges the critical gap between campus departments, vendors, and finance leadership.</a:t>
            </a:r>
            <a:br/>
            <a:r>
              <a:t>• 100% operational audit compliance with zero paperwork friction.</a:t>
            </a:r>
            <a:br/>
            <a:r>
              <a:t>• Ready for enterprise deployment across colleges, universities, and multi-campus corporate facilities.</a:t>
            </a:r>
            <a:br/>
            <a:r>
              <a:t>• Recommended Action: Approve institutional rollout and Phase 2 ERP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3035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Thank you. Open for Questions &amp; Board Discussion.</a:t>
            </a:r>
            <a:br/>
            <a:r>
              <a:t>Contact: engineering@aharsetu.edu.in  |  https://aharsetu.vercel.app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1741</Words>
  <Application>Microsoft Macintosh PowerPoint</Application>
  <PresentationFormat>Widescreen</PresentationFormat>
  <Paragraphs>183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Shubh Soni</cp:lastModifiedBy>
  <cp:revision>1</cp:revision>
  <dcterms:created xsi:type="dcterms:W3CDTF">2013-01-27T09:14:16Z</dcterms:created>
  <dcterms:modified xsi:type="dcterms:W3CDTF">2026-08-19T13:49:18Z</dcterms:modified>
  <cp:category/>
</cp:coreProperties>
</file>