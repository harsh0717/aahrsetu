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/>
    <p:restoredTop sz="94698"/>
  </p:normalViewPr>
  <p:slideViewPr>
    <p:cSldViewPr snapToGrid="0" snapToObjects="1">
      <p:cViewPr>
        <p:scale>
          <a:sx n="115" d="100"/>
          <a:sy n="115" d="100"/>
        </p:scale>
        <p:origin x="-56" y="-4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137160" cy="3291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1554480"/>
            <a:ext cx="9601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A5FA"/>
                </a:solidFill>
                <a:latin typeface="Arial"/>
              </a:defRPr>
            </a:pPr>
            <a:r>
              <a:t>ENTERPRISE INSTITUTIONAL PROCUREMENT PLATFORM</a:t>
            </a:r>
          </a:p>
          <a:p>
            <a:pPr>
              <a:spcBef>
                <a:spcPts val="600"/>
              </a:spcBef>
              <a:defRPr sz="4000" b="1">
                <a:solidFill>
                  <a:srgbClr val="FFFFFF"/>
                </a:solidFill>
                <a:latin typeface="Arial"/>
              </a:defRPr>
            </a:pPr>
            <a:r>
              <a:t>AharSetu (आहार-सेतु)</a:t>
            </a:r>
          </a:p>
          <a:p>
            <a:pPr>
              <a:spcBef>
                <a:spcPts val="800"/>
              </a:spcBef>
              <a:defRPr sz="1800">
                <a:solidFill>
                  <a:srgbClr val="CBD5E1"/>
                </a:solidFill>
                <a:latin typeface="Arial"/>
              </a:defRPr>
            </a:pPr>
            <a:r>
              <a:t>Smart Campus Canteen ERP &amp; Multi-Vendor Automated Procurement Platform</a:t>
            </a:r>
          </a:p>
          <a:p>
            <a:pPr>
              <a:spcBef>
                <a:spcPts val="14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Comprehensive Executive Overview for Board of Directors &amp; Institutional Leadership</a:t>
            </a:r>
            <a:br/>
            <a:r>
              <a:t>Featuring Real-Time Governance, Multi-Tier Approvals, Auto-Split Orders &amp; Immutable Audit Trails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Presented by: Product &amp; Engineering Leadership  |  Confidential  |  v2.5 Production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INDUSTRY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The Problem: Inefficiencies in Institutional Canteen Procurement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2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5780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480060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87171"/>
                </a:solidFill>
                <a:latin typeface="Arial"/>
              </a:defRPr>
            </a:pPr>
            <a:r>
              <a:t>Manual Paper Slips &amp; Uncoordinated Vouchers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Departments manage event hospitality via paper slips or casual chats.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High rates of missing slips, unrecorded quantities, and unaccounted costs.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Zero centralized digital record for departmental refreshment expenses.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0060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59E0B"/>
                </a:solidFill>
                <a:latin typeface="Arial"/>
              </a:defRPr>
            </a:pPr>
            <a:r>
              <a:t>Multi-Vendor Splitting Friction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A single hospitality order requires items from 2-4 distinct campus canteens.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Coordinators spend hours coordinating separately with each shop vendor.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Invoices arrive piecemeal with no single consolidated master ledger.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94760"/>
            <a:ext cx="525780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977640"/>
            <a:ext cx="480060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A855F7"/>
                </a:solidFill>
                <a:latin typeface="Arial"/>
              </a:defRPr>
            </a:pPr>
            <a:r>
              <a:t>Approval Delays &amp; Budget Leakage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Principals and finance lack visibility over real-time departmental spending.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Multi-day delays waiting for physical sign-offs on urgent hospitality orders.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Lack of pre-approval verification leading to post-event budget disputes.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5780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3977640"/>
            <a:ext cx="480060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6B6D4"/>
                </a:solidFill>
                <a:latin typeface="Arial"/>
              </a:defRPr>
            </a:pPr>
            <a:r>
              <a:t>Audit Compliance &amp; Settlement Bottlenecks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Finance departments face significant pain during monthly reconciliation.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Vendors wait 30-60 days for voucher matching and bill verification.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No immutable timestamped trail of authorizations, deliveries, and claims.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EXECUTIVE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The Solution: AharSetu Unified ERP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3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30175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B82F6"/>
                </a:solidFill>
                <a:latin typeface="Arial"/>
              </a:defRPr>
            </a:pPr>
            <a:r>
              <a:t>Automated Multi-Vendor Splitting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Single unified cart experience for event coordinators.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Intelligent auto-splitting into sub-orders for each canteen vendor.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Master order tracks all vendor sub-orders under one reference code.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46304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99432" y="1645920"/>
            <a:ext cx="30175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Arial"/>
              </a:defRPr>
            </a:pPr>
            <a:r>
              <a:t>Multi-Tier Governance &amp; RBAC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5 Institutional roles: Admin, Principal, Coordinator, Vendor, DCR.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Departmental data isolation &amp; granular permission boundaries.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Instant digital review with recorded remarks and rejection logs.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46304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38744" y="1645920"/>
            <a:ext cx="30175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A855F7"/>
                </a:solidFill>
                <a:latin typeface="Arial"/>
              </a:defRPr>
            </a:pPr>
            <a:r>
              <a:t>Real-Time Synchronization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Sub-second WebSocket push alerts + 10s resilient polling fallback.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Cross-device and multi-tab live synchronized order states.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Automated vendor monthly reconciliation &amp; verified QR invoicing.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Enterprise Technical Architecture &amp; System Topology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4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8463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B82F6"/>
                </a:solidFill>
                <a:latin typeface="Arial"/>
              </a:defRPr>
            </a:pPr>
            <a:r>
              <a:t>Presentation Layer (Next.js 16 + React 19 + Turbopack)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Optimistic UI with multilingual i18n (EN, HI, GU).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PWA shell with Web Push and audio chime triggers.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71800"/>
            <a:ext cx="48463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315468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Arial"/>
              </a:defRPr>
            </a:pPr>
            <a:r>
              <a:t>API &amp; Gateway (FastAPI + Starlette WebSockets)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Stateless JWT auth with role-based security guards.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Sub-second real-time event broadcasting mesh.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48463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66344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A855F7"/>
                </a:solidFill>
                <a:latin typeface="Arial"/>
              </a:defRPr>
            </a:pPr>
            <a:r>
              <a:t>Data Core (PostgreSQL / SQLite + SQLAlchemy 2.0)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Cascading integrity protection &amp; immutable audit logs.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Encrypted browser storage fallback with tombstone keys.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24144" y="1426464"/>
            <a:ext cx="5772607" cy="4553712"/>
          </a:xfrm>
          <a:prstGeom prst="roundRect">
            <a:avLst/>
          </a:prstGeom>
          <a:solidFill>
            <a:srgbClr val="182235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289304"/>
            <a:ext cx="6141454" cy="4828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6016752"/>
            <a:ext cx="56994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50" b="1">
                <a:solidFill>
                  <a:srgbClr val="60A5FA"/>
                </a:solidFill>
                <a:latin typeface="Arial"/>
              </a:defRPr>
            </a:pPr>
            <a:r>
              <a:t>📸 System Architecture &amp; Data Gateway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ORDER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End-to-End Requisition Pipeline &amp; Approval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5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380744"/>
            <a:ext cx="10801807" cy="4736592"/>
          </a:xfrm>
          <a:prstGeom prst="roundRect">
            <a:avLst/>
          </a:prstGeom>
          <a:solidFill>
            <a:srgbClr val="182235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order_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10728655" cy="466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153912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50" b="1">
                <a:solidFill>
                  <a:srgbClr val="60A5FA"/>
                </a:solidFill>
                <a:latin typeface="Arial"/>
              </a:defRPr>
            </a:pPr>
            <a:r>
              <a:t>📸 End-to-End Order Requisition &amp; Verification Data 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COORDINATOR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Coordinator Experience: Multi-Vendor Requisition &amp;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6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93776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B82F6"/>
                </a:solidFill>
                <a:latin typeface="Arial"/>
              </a:defRPr>
            </a:pPr>
            <a:r>
              <a:t>Visual Menu &amp; Category Browsing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Real-time food items categorized by Snacks, Beverages, Meals &amp; Breakfast.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Dynamic vendor open/closed indicators prevent ordering from offline canteens.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71800"/>
            <a:ext cx="493776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315468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Arial"/>
              </a:defRPr>
            </a:pPr>
            <a:r>
              <a:t>Multi-Vendor Unified Cart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Coordinators add items across multiple canteens into a single requisition.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Automated line item price calculations with instant budget summary.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493776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66344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59E0B"/>
                </a:solidFill>
                <a:latin typeface="Arial"/>
              </a:defRPr>
            </a:pPr>
            <a:r>
              <a:t>Pre-DCR Modification &amp; Live Tracking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Coordinators can modify or cancel orders prior to final DCR audit clearance.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Visual order stepper displaying real-time stage in approval lifecycle.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15584" y="1426464"/>
            <a:ext cx="5681167" cy="4553712"/>
          </a:xfrm>
          <a:prstGeom prst="roundRect">
            <a:avLst/>
          </a:prstGeom>
          <a:solidFill>
            <a:srgbClr val="182235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media_17871556917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842" y="1399032"/>
            <a:ext cx="5733909" cy="4617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52160" y="6016752"/>
            <a:ext cx="56080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50" b="1">
                <a:solidFill>
                  <a:srgbClr val="60A5FA"/>
                </a:solidFill>
                <a:latin typeface="Arial"/>
              </a:defRPr>
            </a:pPr>
            <a:r>
              <a:t>📸 Coordinator Dashboard &amp; Requisition Interface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EXECUTIVE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Leadership Governance: Principal &amp; DCR Review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7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93776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448056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6B6D4"/>
                </a:solidFill>
                <a:latin typeface="Arial"/>
              </a:defRPr>
            </a:pPr>
            <a:r>
              <a:t>Principal Departmental Oversight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Multi-department supervisors (e.g. Diploma + Degree) review pending queues.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1-Click Approve / Reject with mandatory auditable remarks.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Direct-order privilege allowing Principals to draft urgent VIP requisitions directly.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39"/>
            <a:ext cx="493776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3931919"/>
            <a:ext cx="448056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A855F7"/>
                </a:solidFill>
                <a:latin typeface="Arial"/>
              </a:defRPr>
            </a:pPr>
            <a:r>
              <a:t>DCR (Discretionary) Financial Clearance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Second-tier audit verification ensuring compliance with institutional spending caps.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Dispatches verified orders to designated canteen vendors simultaneously.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Maintains full institutional expenditure visibility across all colleges.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15584" y="1426464"/>
            <a:ext cx="5681167" cy="4553712"/>
          </a:xfrm>
          <a:prstGeom prst="roundRect">
            <a:avLst/>
          </a:prstGeom>
          <a:solidFill>
            <a:srgbClr val="182235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edia_17871556917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600" y="1353312"/>
            <a:ext cx="5791134" cy="462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52160" y="6016752"/>
            <a:ext cx="56080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50" b="1">
                <a:solidFill>
                  <a:srgbClr val="60A5FA"/>
                </a:solidFill>
                <a:latin typeface="Arial"/>
              </a:defRPr>
            </a:pPr>
            <a:r>
              <a:t>📸 Principal Requisition Review &amp; Governance Queue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VENDOR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Vendor Operations: Kitchen Processing &amp; Settlement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8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93776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59E0B"/>
                </a:solidFill>
                <a:latin typeface="Arial"/>
              </a:defRPr>
            </a:pPr>
            <a:r>
              <a:t>Isolated Sub-Order Processing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Canteens only see their designated items without seeing competitor pricing.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Interactive price input for confirming sub-order totals before dispatch.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Item modification requests if ingredients or quantities are unavailable.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71800"/>
            <a:ext cx="493776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315468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B82F6"/>
                </a:solidFill>
                <a:latin typeface="Arial"/>
              </a:defRPr>
            </a:pPr>
            <a:r>
              <a:t>Dynamic Menu &amp; Availability Management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Vendors update item names, prices, categories, and stock availability.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Status toggle: Open, Closed, or Temporarily Unavailable with auto-refresh.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493776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66344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Arial"/>
              </a:defRPr>
            </a:pPr>
            <a:r>
              <a:t>Automated Monthly Revenue Ledgers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Real-time tracking of completed orders, pending balances, and total revenue.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Eliminates billing disputes with verified sub-invoices (INV-ORD-xxx-V1).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15584" y="1426464"/>
            <a:ext cx="5681167" cy="4553712"/>
          </a:xfrm>
          <a:prstGeom prst="roundRect">
            <a:avLst/>
          </a:prstGeom>
          <a:solidFill>
            <a:srgbClr val="182235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media_17871556918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600" y="1389888"/>
            <a:ext cx="5791134" cy="46268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52160" y="6016752"/>
            <a:ext cx="56080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50" b="1">
                <a:solidFill>
                  <a:srgbClr val="60A5FA"/>
                </a:solidFill>
                <a:latin typeface="Arial"/>
              </a:defRPr>
            </a:pPr>
            <a:r>
              <a:t>📸 Canteen Vendor Kitchen Dashboard &amp; Orders Queue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ADMIN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Administrative Governance &amp; Institutional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9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493776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B82F6"/>
                </a:solidFill>
                <a:latin typeface="Arial"/>
              </a:defRPr>
            </a:pPr>
            <a:r>
              <a:t>Institutional User Management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CRUD management of Coordinators, Principals, DCR Auditors, and Vendors.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Granular department assignments and permanent deletion cascading protection.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71800"/>
            <a:ext cx="493776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315468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A855F7"/>
                </a:solidFill>
                <a:latin typeface="Arial"/>
              </a:defRPr>
            </a:pPr>
            <a:r>
              <a:t>Multi-Department Configuration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Create, rename, and activate/deactivate institutional academic departments.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Multi-department mapping for executive Principals supervising multiple wings.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493776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66344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Arial"/>
              </a:defRPr>
            </a:pPr>
            <a:r>
              <a:t>System Operational Health &amp; Reports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Real-time database latency, WebSocket event gateway, and health analytics.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Comprehensive order filters by date, department, status, vendor, and coordinator.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15584" y="1426464"/>
            <a:ext cx="5681167" cy="4553712"/>
          </a:xfrm>
          <a:prstGeom prst="roundRect">
            <a:avLst/>
          </a:prstGeom>
          <a:solidFill>
            <a:srgbClr val="182235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media_17871556918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490" y="1408176"/>
            <a:ext cx="5745354" cy="45902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52160" y="6016752"/>
            <a:ext cx="560801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50" b="1">
                <a:solidFill>
                  <a:srgbClr val="60A5FA"/>
                </a:solidFill>
                <a:latin typeface="Arial"/>
              </a:defRPr>
            </a:pPr>
            <a:r>
              <a:t>📸 System Administrator Control &amp; Operational Health Console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SYNCHRONIZATION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Real-Time Synchronization &amp; Cross-Device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10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138988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10271455" cy="10241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B82F6"/>
                </a:solidFill>
                <a:latin typeface="Arial"/>
              </a:defRPr>
            </a:pPr>
            <a:r>
              <a:t>1. WebSocket Push Notification Pipeline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Instant broadcast of order lifecycle events (`ORDER_UPDATED`, `USER_CREATED`, `USER_DELETED`).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Targeted role-based WebSocket connections with sub-second alert delivery and Web Audio chimes.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Client reconnection backoff algorithm with automatic token heartbeat and floating toast stack.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99232"/>
            <a:ext cx="10728655" cy="138988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3182112"/>
            <a:ext cx="10271455" cy="10241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Arial"/>
              </a:defRPr>
            </a:pPr>
            <a:r>
              <a:t>2. 10-Second Resilient Silent Polling Fallback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Seamless background polling timer that operates silently without triggering full-page loaders.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Guarantees 100% data consistency even across unstable campus Wi-Fi connections.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Shared BroadcastChannel &amp; `storage` event listeners for multi-tab synchronization.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35424"/>
            <a:ext cx="10728655" cy="138988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718304"/>
            <a:ext cx="10271455" cy="10241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A855F7"/>
                </a:solidFill>
                <a:latin typeface="Arial"/>
              </a:defRPr>
            </a:pPr>
            <a:r>
              <a:t>3. Tombstone Deletion &amp; Persistence Consistency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Tombstone tracking (`aharsetu_deleted_user_ids`) prevents deleted entities from resurrecting.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Local storage caches gracefully merge with backend API responses on network recovery.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Zero stale UI states across mobile smartphones, tablets, and desktop workstations.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SECURITY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Security, Financial Audit &amp; Digital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11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30175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B82F6"/>
                </a:solidFill>
                <a:latin typeface="Arial"/>
              </a:defRPr>
            </a:pPr>
            <a:r>
              <a:t>Cryptographic QR Invoicing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Every bill features a verified QR code.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Public verification endpoint `/verify/invoice/[id]` validates authenticity.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Prevents duplicate bill claims and unauthorized manual tampering.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46304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99432" y="1645920"/>
            <a:ext cx="30175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Arial"/>
              </a:defRPr>
            </a:pPr>
            <a:r>
              <a:t>Enterprise JWT &amp; Password Security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Passlib bcrypt password hashing.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Protected API route dependencies with role-based JWT bearer tokens.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Prevents privilege escalation and unauthorized departmental access.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46304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38744" y="1645920"/>
            <a:ext cx="30175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A855F7"/>
                </a:solidFill>
                <a:latin typeface="Arial"/>
              </a:defRPr>
            </a:pPr>
            <a:r>
              <a:t>Immutable Audit Trail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Every status change, rejection remark, and profile edit is permanently logged.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Captures user identity, client IP, browser metadata, and before/after values.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Compliant with university and corporate financial auditing standards.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VALUE REALIZATION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Business Impact, Efficiency Gains &amp; ROI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12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57800" cy="2148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64592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3B82F6"/>
                </a:solidFill>
                <a:latin typeface="Arial"/>
              </a:defRPr>
            </a:pPr>
            <a:r>
              <a:t>85%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Arial"/>
              </a:defRPr>
            </a:pPr>
            <a:r>
              <a:t>Faster Order Processing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Requisition turnaround reduced from hours to under 2 minutes.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2148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64592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0B981"/>
                </a:solidFill>
                <a:latin typeface="Arial"/>
              </a:defRPr>
            </a:pPr>
            <a:r>
              <a:t>100%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Arial"/>
              </a:defRPr>
            </a:pPr>
            <a:r>
              <a:t>Audit &amp; Billing Transparency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Zero missing vouchers; every penny linked to a verified invoice.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94760"/>
            <a:ext cx="5257800" cy="2148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397764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A855F7"/>
                </a:solidFill>
                <a:latin typeface="Arial"/>
              </a:defRPr>
            </a:pPr>
            <a:r>
              <a:t>30 Days → Instant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Arial"/>
              </a:defRPr>
            </a:pPr>
            <a:r>
              <a:t>Vendor Settlement Visibility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Monthly vendor ledgers calculated automatically in real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57800" cy="21488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4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9E0B"/>
                </a:solidFill>
                <a:latin typeface="Arial"/>
              </a:defRPr>
            </a:pPr>
            <a:r>
              <a:t>0%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Arial"/>
              </a:defRPr>
            </a:pPr>
            <a:r>
              <a:t>Paper Waste &amp; Slip Loss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Completely paperless institutional procurement pipeline.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Arial"/>
              </a:defRPr>
            </a:pPr>
            <a:r>
              <a:t>STRATEGIC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Future Product Roadmap &amp; Practical Campus Scaling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07008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AharSetu Enterprise ERP  |  Board of Directors Presentation  |  Slide 13 of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30175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Arial"/>
              </a:defRPr>
            </a:pPr>
            <a:r>
              <a:t>Phase 1: Current Release (v2.5 Production)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Automated multi-vendor requisition splitting.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Pre-DCR order editing and safe cancellation engine.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1-Click live presentation role switcher dock &amp; toasts.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Verified cryptographic QR invoicing &amp; immutable audit trail.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Localized multilingual interface (English, Hindi, Gujarati).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46304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99432" y="1645920"/>
            <a:ext cx="30175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3B82F6"/>
                </a:solidFill>
                <a:latin typeface="Arial"/>
              </a:defRPr>
            </a:pPr>
            <a:r>
              <a:t>Phase 2: Operational Reporting &amp; Feedback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Exportable Excel / CSV financial ledgers for accounts office.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Post-event food quality rating &amp; feedback mechanism for coordinators.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Department monthly expenditure threshold alerts before drafting.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SMS &amp; WhatsApp notification alerts for urgent order updates.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463040"/>
            <a:ext cx="34747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38744" y="1645920"/>
            <a:ext cx="30175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A855F7"/>
                </a:solidFill>
                <a:latin typeface="Arial"/>
              </a:defRPr>
            </a:pPr>
            <a:r>
              <a:t>Phase 3: Campus Scheduling &amp; Event Scaling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Advance recurring orders for weekly seminars &amp; staff meetings.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Multi-slot daily menu scheduling (Breakfast, Lunch, High-Tea).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Temporary guest meal passes &amp; visitor refreshment vouchers.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Arial"/>
              </a:defRPr>
            </a:pPr>
            <a:r>
              <a:t>• Annual institutional audit pack export for statutory reviews.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137160" cy="3657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1554480"/>
            <a:ext cx="9601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BOARD RECOMMENDATION &amp; CONCLUSION</a:t>
            </a:r>
          </a:p>
          <a:p>
            <a:pPr>
              <a:spcBef>
                <a:spcPts val="600"/>
              </a:spcBef>
              <a:defRPr sz="3200" b="1">
                <a:solidFill>
                  <a:srgbClr val="FFFFFF"/>
                </a:solidFill>
                <a:latin typeface="Arial"/>
              </a:defRPr>
            </a:pPr>
            <a:r>
              <a:t>Empowering Institutional Excellence with AharSetu</a:t>
            </a:r>
          </a:p>
          <a:p>
            <a:pPr>
              <a:spcBef>
                <a:spcPts val="1400"/>
              </a:spcBef>
              <a:defRPr sz="1300">
                <a:solidFill>
                  <a:srgbClr val="E2E8F0"/>
                </a:solidFill>
                <a:latin typeface="Arial"/>
              </a:defRPr>
            </a:pPr>
            <a:r>
              <a:t>• AharSetu bridges the critical gap between campus departments, canteens, and finance leadership.</a:t>
            </a:r>
            <a:br/>
            <a:r>
              <a:t>• 100% operational audit compliance with zero paperwork friction.</a:t>
            </a:r>
            <a:br/>
            <a:r>
              <a:t>• Ready for enterprise deployment across colleges, universities, and multi-campus corporate facilities.</a:t>
            </a:r>
            <a:br/>
            <a:r>
              <a:t>• Recommended Action: Approve institutional rollout and commence Phase 2 reporting enhancements.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1615</Words>
  <Application>Microsoft Macintosh PowerPoint</Application>
  <PresentationFormat>Widescreen</PresentationFormat>
  <Paragraphs>175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Shubh Soni</cp:lastModifiedBy>
  <cp:revision>2</cp:revision>
  <dcterms:created xsi:type="dcterms:W3CDTF">2013-01-27T09:14:16Z</dcterms:created>
  <dcterms:modified xsi:type="dcterms:W3CDTF">2026-08-19T16:35:27Z</dcterms:modified>
  <cp:category/>
</cp:coreProperties>
</file>