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37160" cy="3291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Arial"/>
              </a:defRPr>
            </a:pPr>
            <a:r>
              <a:t>ENTERPRISE INSTITUTIONAL PROCUREMENT PLATFORM</a:t>
            </a:r>
          </a:p>
          <a:p>
            <a:pPr>
              <a:spcBef>
                <a:spcPts val="600"/>
              </a:spcBef>
              <a:defRPr sz="4000" b="1">
                <a:solidFill>
                  <a:srgbClr val="FFFFFF"/>
                </a:solidFill>
                <a:latin typeface="Arial"/>
              </a:defRPr>
            </a:pPr>
            <a:r>
              <a:t>AharSetu (आहार-सेतु)</a:t>
            </a:r>
          </a:p>
          <a:p>
            <a:pPr>
              <a:spcBef>
                <a:spcPts val="800"/>
              </a:spcBef>
              <a:defRPr sz="1800">
                <a:solidFill>
                  <a:srgbClr val="CBD5E1"/>
                </a:solidFill>
                <a:latin typeface="Arial"/>
              </a:defRPr>
            </a:pPr>
            <a:r>
              <a:t>Smart Campus Canteen ERP &amp; Multi-Vendor Automated Procurement Platform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Comprehensive Executive Overview for Board of Directors &amp; Institutional Leadership</a:t>
            </a:r>
            <a:br/>
            <a:r>
              <a:t>Featuring Real-Time Governance, Multi-Tier Approvals, Auto-Split Orders &amp; Immutable Audit Trails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Presented by: Product &amp; Engineering Leadership  |  Confidential  |  v2.0 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The Problem: Inefficiencies in Institutional Canteen Procurement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2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5780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F87171"/>
                </a:solidFill>
                <a:latin typeface="Arial"/>
              </a:defRPr>
            </a:pPr>
            <a:r>
              <a:t>Manual Paper Slips &amp; Uncoordinated Vouchers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Departments manage event hospitality via paper slips or casual chats.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High rates of missing slips, unrecorded quantities, and unaccounted costs.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Zero centralized digital record for departmental refreshment expenses.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F59E0B"/>
                </a:solidFill>
                <a:latin typeface="Arial"/>
              </a:defRPr>
            </a:pPr>
            <a:r>
              <a:t>Multi-Vendor Splitting Friction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 single hospitality order requires items from 2-4 distinct campus canteens.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Coordinators spend hours coordinating separately with each shop vendor.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Invoices arrive piecemeal with no single consolidated master ledger.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25780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977640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Approval Delays &amp; Budget Leakage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Principals and finance lack visibility over real-time departmental spending.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Multi-day delays waiting for physical sign-offs on urgent hospitality orders.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Lack of pre-approval verification leading to post-event budget disputes.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5780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977640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06B6D4"/>
                </a:solidFill>
                <a:latin typeface="Arial"/>
              </a:defRPr>
            </a:pPr>
            <a:r>
              <a:t>Audit Compliance &amp; Settlement Bottlenecks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Finance departments face significant pain during monthly reconciliation.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Vendors wait 30-60 days for voucher matching and bill verification.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No immutable timestamped trail of authorizations, deliveries, and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EXECUTIVE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The Solution: AharSetu Unified ERP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3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Automated Multi-Vendor Splitting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Single unified cart experience for event coordinators.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Intelligent auto-splitting into sub-orders for each canteen vendor.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Master order tracks all vendor sub-orders under one reference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Multi-Tier Governance &amp; RBAC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5 Institutional roles: Admin, Principal, Coordinator, Vendor, DCR.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Departmental data isolation &amp; granular permission boundaries.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Instant digital review with recorded remarks and rejection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38744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Real-Time Synchronization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Sub-second WebSocket push alerts + 10s resilient polling fallback.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Cross-device and multi-tab live synchronized order states.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Automated vendor monthly reconciliation &amp; verified QR invoicing.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Enterprise Technical Architecture &amp; Reliability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4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62179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Frontend Layer (Next.js 16 + React 19 + Turbopack)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Zero-latency optimistic UI with localized multi-language i18n (EN, HI, GU).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PWA shell with Web Push notification service worker and mobile 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62179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Backend Services (FastAPI + Python 3.12 Asynchronous Core)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Stateless JWT authentication with rotating tokens &amp; RBAC security decorators.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High-throughput REST API endpoints with Pydantic payload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62179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Database &amp; Persistence (PostgreSQL / SQLite + SQLAlchemy 2.0)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Relational data model with cascading integrity constraints &amp; connection pooling.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Immutable audit logs, real-time WebSocket broadcaster, and automated seeders.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463040"/>
            <a:ext cx="4327855" cy="4480560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154680"/>
            <a:ext cx="39620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  <a:latin typeface="Arial"/>
              </a:defRPr>
            </a:pPr>
            <a:r>
              <a:t>📸 Architecture &amp; Data Flow Diagram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Insert System Architecture Diagram Here</a:t>
            </a:r>
          </a:p>
          <a:p>
            <a:pPr algn="ctr">
              <a:defRPr sz="850" i="1">
                <a:solidFill>
                  <a:srgbClr val="94A3B8"/>
                </a:solidFill>
                <a:latin typeface="Arial"/>
              </a:defRPr>
            </a:pPr>
            <a:r>
              <a:t>(Right Click → Change Picture / Paste Screenshot)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ORDER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End-to-End Procurement &amp; Approval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5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05740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45920"/>
            <a:ext cx="178308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783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1. Coordinator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Drafts requisitions, selects live menu items, submits to Principal.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16351" y="3566160"/>
            <a:ext cx="146304" cy="219456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07791" y="1463040"/>
            <a:ext cx="205740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44951" y="1645920"/>
            <a:ext cx="1783080" cy="4114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1" y="2194560"/>
            <a:ext cx="1783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2. Principal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Reviews departmental budget, approves or rejects with official remarks.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92622" y="3566160"/>
            <a:ext cx="146304" cy="219456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463040"/>
            <a:ext cx="205740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21224" y="1645920"/>
            <a:ext cx="1783080" cy="41148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1224" y="2194560"/>
            <a:ext cx="1783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3. DCR (Discretionary)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Verifies institutional expense limits and forwards to canteen vendors.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68895" y="3566160"/>
            <a:ext cx="146304" cy="219456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60336" y="1463040"/>
            <a:ext cx="205740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97496" y="1645920"/>
            <a:ext cx="178308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97496" y="2194560"/>
            <a:ext cx="1783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4. Canteen Vendor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Confirms pricing, prepares items, requests modifications if needed.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3566160"/>
            <a:ext cx="146304" cy="219456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36608" y="1463040"/>
            <a:ext cx="205740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73768" y="1645920"/>
            <a:ext cx="17830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STEP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2194560"/>
            <a:ext cx="1783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5. Final Settlement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Consolidates all sub-bills, generates verified QR invoice &amp; audit entry.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COORDINATOR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Coordinator Experience: Multi-Vendor Requisition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6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Visual Menu &amp; Category Browsing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Real-time food items categorized by Snacks, Beverages, Meals &amp; Breakfast.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Dynamic vendor open/closed indicators prevent ordering from offline canteens.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Multi-Vendor Unified Cart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Coordinators add items across multiple canteens into a single requisition.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Automated subtotal calculations with instant budget summary.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F59E0B"/>
                </a:solidFill>
                <a:latin typeface="Arial"/>
              </a:defRPr>
            </a:pPr>
            <a:r>
              <a:t>Live Order Tracking &amp; Rejection Visibility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Visual order stepper displaying current stage in approval lifecycle.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Detailed rejection remarks with immediate re-submission capabilities.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154680"/>
            <a:ext cx="48764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  <a:latin typeface="Arial"/>
              </a:defRPr>
            </a:pPr>
            <a:r>
              <a:t>📸 Coordinator Portal UI Screenshot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Insert Coordinator Draft &amp; Tracking Page Screenshot</a:t>
            </a:r>
          </a:p>
          <a:p>
            <a:pPr algn="ctr">
              <a:defRPr sz="850" i="1">
                <a:solidFill>
                  <a:srgbClr val="94A3B8"/>
                </a:solidFill>
                <a:latin typeface="Arial"/>
              </a:defRPr>
            </a:pPr>
            <a:r>
              <a:t>(Right Click → Change Picture / Paste Screenshot)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EXECUTIVE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Leadership Governance: Principal &amp; DCR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7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3035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8463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06B6D4"/>
                </a:solidFill>
                <a:latin typeface="Arial"/>
              </a:defRPr>
            </a:pPr>
            <a:r>
              <a:t>Principal Departmental Oversight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Multi-department supervisors (e.g. Diploma + Degree) review pending requisitions.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One-click Approve / Reject with mandatory auditable remarks.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Direct-order privilege allowing Principals to draft urgent VIP orders directly to DCR.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530352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931919"/>
            <a:ext cx="48463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DCR (Discretionary) Financial Clearance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Second-tier audit verification ensuring compliance with institutional spending caps.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Dispatches verified orders to designated canteen vendors simultaneously.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Maintains full institutional expenditure visibility across all colleges.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48764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  <a:latin typeface="Arial"/>
              </a:defRPr>
            </a:pPr>
            <a:r>
              <a:t>📸 Principal / DCR Review UI Screenshot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Insert Principal Approvals &amp; Audit Page Screenshot</a:t>
            </a:r>
          </a:p>
          <a:p>
            <a:pPr algn="ctr">
              <a:defRPr sz="850" i="1">
                <a:solidFill>
                  <a:srgbClr val="94A3B8"/>
                </a:solidFill>
                <a:latin typeface="Arial"/>
              </a:defRPr>
            </a:pPr>
            <a:r>
              <a:t>(Right Click → Change Picture / Paste Screenshot)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VENDOR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Vendor Operations: Kitchen Processing &amp; Settlement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8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F59E0B"/>
                </a:solidFill>
                <a:latin typeface="Arial"/>
              </a:defRPr>
            </a:pPr>
            <a:r>
              <a:t>Isolated Sub-Order Processing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Canteens only see their designated items without seeing competitor pricing.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Interactive price input for confirming sub-order totals before dispatch.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Item modification requests if ingredients or quantities are unavailable.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Dynamic Menu &amp; Availability Management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Vendors update item names, prices, categories, and stock availability.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Status toggle: Open, Closed, or Temporarily Unavailable with auto-refresh.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Automated Monthly Revenue Ledgers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Real-time tracking of completed orders, pending balances, and total revenue.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Eliminates billing disputes with verified sub-invoices (INV-ORD-xxx-V1).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154680"/>
            <a:ext cx="48764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  <a:latin typeface="Arial"/>
              </a:defRPr>
            </a:pPr>
            <a:r>
              <a:t>📸 Vendor Kitchen Dashboard Screenshot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Insert Vendor Order Processing &amp; Menu Management Screenshot</a:t>
            </a:r>
          </a:p>
          <a:p>
            <a:pPr algn="ctr">
              <a:defRPr sz="850" i="1">
                <a:solidFill>
                  <a:srgbClr val="94A3B8"/>
                </a:solidFill>
                <a:latin typeface="Arial"/>
              </a:defRPr>
            </a:pPr>
            <a:r>
              <a:t>(Right Click → Change Picture / Paste Screenshot)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ADMIN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Administrative Governance &amp; Institutional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9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Institutional User Management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CRUD management of Coordinators, Principals, DCR Auditors, and Vendors.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Granular department assignments and permanent deletion cascading protection.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Multi-Department Configuration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Create, rename, and activate/deactivate institutional academic departments.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Multi-department mapping for executive Principals supervising multiple wings.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53035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Financial Reports &amp; Audit Trail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Comprehensive order filters by date, department, status, vendor, and coordinator.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System health diagnostics, WebSocket monitor, and permanent security logs.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154680"/>
            <a:ext cx="487649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0A5FA"/>
                </a:solidFill>
                <a:latin typeface="Arial"/>
              </a:defRPr>
            </a:pPr>
            <a:r>
              <a:t>📸 Admin Console Screenshot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Insert Admin User Management &amp; Reports Page Screenshot</a:t>
            </a:r>
          </a:p>
          <a:p>
            <a:pPr algn="ctr">
              <a:defRPr sz="850" i="1">
                <a:solidFill>
                  <a:srgbClr val="94A3B8"/>
                </a:solidFill>
                <a:latin typeface="Arial"/>
              </a:defRPr>
            </a:pPr>
            <a:r>
              <a:t>(Right Click → Change Picture / Paste Screenshot)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SYNCHRONIZATION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Real-Time Synchronization &amp; Cross-Device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10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138988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10271455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1. WebSocket Push Notification Pipeline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Instant broadcast of order lifecycle events (`ORDER_UPDATED`, `USER_CREATED`, `USER_DELETED`).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Targeted role-based WebSocket connections with sub-second alert delivery.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Client reconnection backoff algorithm with automatic token heartbeat.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99232"/>
            <a:ext cx="10728655" cy="138988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82112"/>
            <a:ext cx="10271455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2. 10-Second Resilient Silent Polling Fallback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Seamless background polling timer that operates silently without triggering full-page loaders.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Guarantees 100% data consistency even across unstable campus Wi-Fi connections.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Shared BroadcastChannel &amp; `storage` event listeners for multi-tab synchronization.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35424"/>
            <a:ext cx="10728655" cy="138988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718304"/>
            <a:ext cx="10271455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3. Tombstone Deletion &amp; Persistence Consistency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Tombstone tracking (`aharsetu_deleted_user_ids`) prevents deleted entities from resurrecting.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Local storage caches gracefully merge with backend API responses on network recovery.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Zero stale UI states across mobile smartphones, tablets, and desktop workstations.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Security, Financial Audit &amp; Digital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11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Cryptographic QR Invoicing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Every bill features a verified QR code.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Public verification endpoint `/verify/invoice/[id]` validates authenticity.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Prevents duplicate bill claims and unauthorized manual tampering.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Enterprise JWT &amp; Password Security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Passlib bcrypt password hashing.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Protected API route dependencies with role-based JWT bearer tokens.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Prevents privilege escalation and unauthorized departmental access.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38744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Immutable Audit Trail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Every status change, rejection remark, and profile edit is permanently logged.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Captures user identity, client IP, browser metadata, and before/after values.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Compliant with university and corporate financial auditing standards.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VALUE REALIZATION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Business Impact, Efficiency Gains &amp;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12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5780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3B82F6"/>
                </a:solidFill>
                <a:latin typeface="Arial"/>
              </a:defRPr>
            </a:pPr>
            <a:r>
              <a:t>85%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Arial"/>
              </a:defRPr>
            </a:pPr>
            <a:r>
              <a:t>Faster Order Processing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Requisition turnaround reduced from hours to under 2 minutes.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4592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Arial"/>
              </a:defRPr>
            </a:pPr>
            <a:r>
              <a:t>100%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Arial"/>
              </a:defRPr>
            </a:pPr>
            <a:r>
              <a:t>Audit &amp; Billing Transparency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Zero missing vouchers; every penny linked to a verified invoice.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25780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A855F7"/>
                </a:solidFill>
                <a:latin typeface="Arial"/>
              </a:defRPr>
            </a:pPr>
            <a:r>
              <a:t>30 Days → Instant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Arial"/>
              </a:defRPr>
            </a:pPr>
            <a:r>
              <a:t>Vendor Settlement Visibility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Monthly vendor ledgers calculated automatically in real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5780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4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9E0B"/>
                </a:solidFill>
                <a:latin typeface="Arial"/>
              </a:defRPr>
            </a:pPr>
            <a:r>
              <a:t>0%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Arial"/>
              </a:defRPr>
            </a:pPr>
            <a:r>
              <a:t>Paper Waste &amp; Slip Loss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Completely paperless institutional procurement pipeline.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STRATEGIC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Future Product Roadmap &amp; Practical Campus Scaling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13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Phase 1: Current Release (v2.0 Production)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Automated multi-vendor requisition splitting.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10-second real-time cross-device sync &amp; WebSocket alerts.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Verified cryptographic QR invoicing &amp; immutable audit trail.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Localized multilingual interface (English, Hindi, Gujarati).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Phase 2: Operational Reporting &amp; Feedback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Exportable Excel / CSV financial ledgers for accounts office.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Post-event food quality rating &amp; feedback mechanism for coordinators.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Department monthly expenditure threshold alerts before drafting.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SMS &amp; WhatsApp notification alerts for urgent order updates.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38744" y="1645920"/>
            <a:ext cx="3017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Phase 3: Campus Scheduling &amp; Event Scaling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Advance recurring orders for weekly seminars &amp; staff meetings.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Multi-slot daily menu scheduling (Breakfast, Lunch, High-Tea).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Temporary guest meal passes &amp; visitor refreshment vouchers.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Annual institutional audit pack export for statutory reviews.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37160" cy="3657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BOARD RECOMMENDATION &amp; CONCLUSION</a:t>
            </a:r>
          </a:p>
          <a:p>
            <a:pPr>
              <a:spcBef>
                <a:spcPts val="6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Empowering Institutional Excellence with AharSetu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• AharSetu bridges the critical gap between campus departments, canteens, and finance leadership.</a:t>
            </a:r>
            <a:br/>
            <a:r>
              <a:t>• 100% operational audit compliance with zero paperwork friction.</a:t>
            </a:r>
            <a:br/>
            <a:r>
              <a:t>• Ready for enterprise deployment across colleges, universities, and multi-campus corporate facilities.</a:t>
            </a:r>
            <a:br/>
            <a:r>
              <a:t>• Recommended Action: Approve institutional rollout and commence Phase 2 reporting enhancements.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